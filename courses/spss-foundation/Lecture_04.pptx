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76" r:id="rId2"/>
    <p:sldId id="257" r:id="rId3"/>
    <p:sldId id="279" r:id="rId4"/>
    <p:sldId id="280" r:id="rId5"/>
    <p:sldId id="281" r:id="rId6"/>
    <p:sldId id="282" r:id="rId7"/>
    <p:sldId id="283" r:id="rId8"/>
    <p:sldId id="284" r:id="rId9"/>
    <p:sldId id="285" r:id="rId10"/>
    <p:sldId id="286" r:id="rId11"/>
    <p:sldId id="310" r:id="rId12"/>
    <p:sldId id="288" r:id="rId13"/>
    <p:sldId id="289" r:id="rId14"/>
    <p:sldId id="290" r:id="rId15"/>
    <p:sldId id="292" r:id="rId16"/>
    <p:sldId id="293" r:id="rId17"/>
    <p:sldId id="294" r:id="rId18"/>
    <p:sldId id="295" r:id="rId19"/>
    <p:sldId id="307" r:id="rId20"/>
    <p:sldId id="296" r:id="rId21"/>
    <p:sldId id="297" r:id="rId22"/>
    <p:sldId id="308" r:id="rId23"/>
    <p:sldId id="309" r:id="rId24"/>
    <p:sldId id="300" r:id="rId25"/>
    <p:sldId id="301" r:id="rId26"/>
    <p:sldId id="303" r:id="rId27"/>
    <p:sldId id="304" r:id="rId28"/>
    <p:sldId id="305" r:id="rId29"/>
    <p:sldId id="306" r:id="rId30"/>
    <p:sldId id="277" r:id="rId31"/>
    <p:sldId id="278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0" d="100"/>
          <a:sy n="50" d="100"/>
        </p:scale>
        <p:origin x="128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51764-02B3-481F-833A-8F66A9CA045B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C61D4-2868-4467-B408-1FD051854E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5661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51764-02B3-481F-833A-8F66A9CA045B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C61D4-2868-4467-B408-1FD051854E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884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51764-02B3-481F-833A-8F66A9CA045B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C61D4-2868-4467-B408-1FD051854E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5092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51764-02B3-481F-833A-8F66A9CA045B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C61D4-2868-4467-B408-1FD051854E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685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51764-02B3-481F-833A-8F66A9CA045B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C61D4-2868-4467-B408-1FD051854E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874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51764-02B3-481F-833A-8F66A9CA045B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C61D4-2868-4467-B408-1FD051854E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013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51764-02B3-481F-833A-8F66A9CA045B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C61D4-2868-4467-B408-1FD051854E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664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51764-02B3-481F-833A-8F66A9CA045B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C61D4-2868-4467-B408-1FD051854E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424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51764-02B3-481F-833A-8F66A9CA045B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C61D4-2868-4467-B408-1FD051854E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403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51764-02B3-481F-833A-8F66A9CA045B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C61D4-2868-4467-B408-1FD051854E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516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51764-02B3-481F-833A-8F66A9CA045B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C61D4-2868-4467-B408-1FD051854E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7001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51764-02B3-481F-833A-8F66A9CA045B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C61D4-2868-4467-B408-1FD051854E9A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436909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51764-02B3-481F-833A-8F66A9CA045B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C61D4-2868-4467-B408-1FD051854E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5204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51764-02B3-481F-833A-8F66A9CA045B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C61D4-2868-4467-B408-1FD051854E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226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51764-02B3-481F-833A-8F66A9CA045B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C61D4-2868-4467-B408-1FD051854E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551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51764-02B3-481F-833A-8F66A9CA045B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C61D4-2868-4467-B408-1FD051854E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8021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51764-02B3-481F-833A-8F66A9CA045B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C61D4-2868-4467-B408-1FD051854E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986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8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75251764-02B3-481F-833A-8F66A9CA045B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D36C61D4-2868-4467-B408-1FD051854E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539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E8B62-90A7-89B8-7554-3936E5C9EE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1371599"/>
          </a:xfrm>
        </p:spPr>
        <p:txBody>
          <a:bodyPr>
            <a:noAutofit/>
          </a:bodyPr>
          <a:lstStyle/>
          <a:p>
            <a:r>
              <a:rPr lang="en-US" b="1" dirty="0"/>
              <a:t>Descriptive Statistics in SPSS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946D7F-AC16-B7A9-DE7C-3DAE70F9B3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 err="1">
                <a:solidFill>
                  <a:schemeClr val="tx1"/>
                </a:solidFill>
              </a:rPr>
              <a:t>md.</a:t>
            </a:r>
            <a:r>
              <a:rPr lang="en-US" b="1" dirty="0">
                <a:solidFill>
                  <a:schemeClr val="tx1"/>
                </a:solidFill>
              </a:rPr>
              <a:t> Monowar Hossain</a:t>
            </a:r>
          </a:p>
          <a:p>
            <a:r>
              <a:rPr lang="en-US" dirty="0">
                <a:solidFill>
                  <a:schemeClr val="tx1"/>
                </a:solidFill>
              </a:rPr>
              <a:t>ISRT, DU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C67266-64AE-ED9C-3EE8-513661C227EA}"/>
              </a:ext>
            </a:extLst>
          </p:cNvPr>
          <p:cNvSpPr txBox="1"/>
          <p:nvPr/>
        </p:nvSpPr>
        <p:spPr>
          <a:xfrm>
            <a:off x="5202621" y="2712156"/>
            <a:ext cx="192572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Lecture 04</a:t>
            </a:r>
          </a:p>
        </p:txBody>
      </p:sp>
    </p:spTree>
    <p:extLst>
      <p:ext uri="{BB962C8B-B14F-4D97-AF65-F5344CB8AC3E}">
        <p14:creationId xmlns:p14="http://schemas.microsoft.com/office/powerpoint/2010/main" val="3366625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B80D4-3D34-7249-DB42-5E267DE28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/>
              <a:t>Agenda</a:t>
            </a:r>
            <a:endParaRPr lang="en-US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166899-B2C6-E66F-968A-92CE69E9070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530850" y="2524747"/>
            <a:ext cx="10363826" cy="342410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 Frequency Distributions and Tables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 Measures of Central Tendency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 Measures of Dispersion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 Skewness and Kurtosis</a:t>
            </a:r>
          </a:p>
        </p:txBody>
      </p:sp>
    </p:spTree>
    <p:extLst>
      <p:ext uri="{BB962C8B-B14F-4D97-AF65-F5344CB8AC3E}">
        <p14:creationId xmlns:p14="http://schemas.microsoft.com/office/powerpoint/2010/main" val="31074073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FC068-B368-2B48-CA93-56A160982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8878" y="2478848"/>
            <a:ext cx="10364451" cy="1596177"/>
          </a:xfrm>
        </p:spPr>
        <p:txBody>
          <a:bodyPr>
            <a:normAutofit/>
          </a:bodyPr>
          <a:lstStyle/>
          <a:p>
            <a:r>
              <a:rPr lang="en-US" sz="5400" b="1" dirty="0"/>
              <a:t>Frequency Distributions and Descriptive Tables</a:t>
            </a:r>
          </a:p>
        </p:txBody>
      </p:sp>
    </p:spTree>
    <p:extLst>
      <p:ext uri="{BB962C8B-B14F-4D97-AF65-F5344CB8AC3E}">
        <p14:creationId xmlns:p14="http://schemas.microsoft.com/office/powerpoint/2010/main" val="24948063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A8DD6-2B97-829C-5FF6-B2A5EDF80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/>
              <a:t>Understanding Frequency Distributions</a:t>
            </a:r>
            <a:endParaRPr lang="en-US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F1C725-A35B-DF57-A7A4-280D76E3ACA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Definition</a:t>
            </a:r>
            <a:r>
              <a:rPr lang="en-US" sz="2400" dirty="0"/>
              <a:t>: A summary of how often each value occurs.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Purpose</a:t>
            </a:r>
            <a:r>
              <a:rPr lang="en-US" sz="2400" dirty="0"/>
              <a:t>: Identify patterns and outliers.</a:t>
            </a:r>
          </a:p>
        </p:txBody>
      </p:sp>
    </p:spTree>
    <p:extLst>
      <p:ext uri="{BB962C8B-B14F-4D97-AF65-F5344CB8AC3E}">
        <p14:creationId xmlns:p14="http://schemas.microsoft.com/office/powerpoint/2010/main" val="11886231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96467-B817-C606-4908-E2A873746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/>
              <a:t>Creating Frequency Tables in SPSS</a:t>
            </a:r>
            <a:endParaRPr lang="en-US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B2B2E5-3230-CBCA-1E9C-0DE70D458AA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Steps</a:t>
            </a:r>
            <a:r>
              <a:rPr lang="en-US" sz="24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Go to </a:t>
            </a:r>
            <a:r>
              <a:rPr lang="en-US" sz="2400" b="1" dirty="0"/>
              <a:t>Analyze &gt; Descriptive Statistics &gt; Frequencies</a:t>
            </a:r>
            <a:r>
              <a:rPr lang="en-US" sz="2400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Select variables of interest.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Generate output for review.</a:t>
            </a:r>
          </a:p>
        </p:txBody>
      </p:sp>
    </p:spTree>
    <p:extLst>
      <p:ext uri="{BB962C8B-B14F-4D97-AF65-F5344CB8AC3E}">
        <p14:creationId xmlns:p14="http://schemas.microsoft.com/office/powerpoint/2010/main" val="21752499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5E525-EC1F-134A-0877-7265E66C2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/>
              <a:t>Benefits of Frequency Tables</a:t>
            </a:r>
            <a:endParaRPr lang="en-US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1836FC-313F-BE9D-66D2-0E29D946182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Advantages</a:t>
            </a:r>
            <a:r>
              <a:rPr lang="en-US" sz="24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Easy to interpret.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Useful for categorical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SPSS Output Example</a:t>
            </a:r>
            <a:r>
              <a:rPr lang="en-US" sz="2400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4581015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51032-5A5E-6D8B-846E-529A4A3DB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2630911"/>
            <a:ext cx="10364451" cy="1596177"/>
          </a:xfrm>
        </p:spPr>
        <p:txBody>
          <a:bodyPr>
            <a:normAutofit/>
          </a:bodyPr>
          <a:lstStyle/>
          <a:p>
            <a:r>
              <a:rPr lang="en-US" sz="4400" b="1" dirty="0"/>
              <a:t>Measures of Central Tendency</a:t>
            </a:r>
          </a:p>
        </p:txBody>
      </p:sp>
    </p:spTree>
    <p:extLst>
      <p:ext uri="{BB962C8B-B14F-4D97-AF65-F5344CB8AC3E}">
        <p14:creationId xmlns:p14="http://schemas.microsoft.com/office/powerpoint/2010/main" val="29984758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D0641-FAB7-BD9B-6085-86BF7068C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/>
              <a:t>Mean (Arithmetic Average)</a:t>
            </a:r>
            <a:endParaRPr lang="en-US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E9E32C1-96B5-5C47-E0B7-401C6D7A2BC4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/>
            <p:txBody>
              <a:bodyPr>
                <a:normAutofit/>
              </a:bodyPr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400" b="1" dirty="0"/>
                  <a:t>Definition</a:t>
                </a:r>
                <a:r>
                  <a:rPr lang="en-US" sz="2400" dirty="0"/>
                  <a:t>: Sum of all values divided by the number of values.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400" b="1" dirty="0"/>
                  <a:t>Formula</a:t>
                </a:r>
                <a:r>
                  <a:rPr lang="en-US" sz="2400" dirty="0"/>
                  <a:t>: Mean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en-US" sz="2400" dirty="0"/>
                  <a:t>​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400" b="1" dirty="0"/>
                  <a:t>Use Case</a:t>
                </a:r>
                <a:r>
                  <a:rPr lang="en-US" sz="2400" dirty="0"/>
                  <a:t>: Suitable for interval/ratio data without extreme outliers.</a:t>
                </a:r>
              </a:p>
              <a:p>
                <a:r>
                  <a:rPr lang="en-US" sz="2400" b="1" dirty="0"/>
                  <a:t>SPSS Steps</a:t>
                </a:r>
                <a:r>
                  <a:rPr lang="en-US" sz="2400" dirty="0"/>
                  <a:t>: Use </a:t>
                </a:r>
                <a:r>
                  <a:rPr lang="en-US" sz="2400" b="1" dirty="0"/>
                  <a:t>Analyze &gt; Descriptive Statistics &gt; Frequencies</a:t>
                </a:r>
                <a:r>
                  <a:rPr lang="en-US" sz="2400" dirty="0"/>
                  <a:t>, and check the "MEAN" option.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E9E32C1-96B5-5C47-E0B7-401C6D7A2B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2"/>
                <a:stretch>
                  <a:fillRect l="-1000" t="-7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062615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6A06D-2E55-D4E8-BD14-8F17E7439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/>
              <a:t>Median (Middle Value)</a:t>
            </a:r>
            <a:endParaRPr lang="en-US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10C943-782F-8567-F6C4-385FBE3407A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Definition</a:t>
            </a:r>
            <a:r>
              <a:rPr lang="en-US" sz="2400" dirty="0"/>
              <a:t>: The middle value when data is sorted.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Use Case</a:t>
            </a:r>
            <a:r>
              <a:rPr lang="en-US" sz="2400" dirty="0"/>
              <a:t>: Best for ordinal data or skewed distributions.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SPSS Steps</a:t>
            </a:r>
            <a:r>
              <a:rPr lang="en-US" sz="2400" dirty="0"/>
              <a:t>: Use </a:t>
            </a:r>
            <a:r>
              <a:rPr lang="en-US" sz="2400" b="1" dirty="0"/>
              <a:t>Analyze &gt; Descriptive Statistics &gt; Frequencies</a:t>
            </a:r>
            <a:r>
              <a:rPr lang="en-US" sz="2400" dirty="0"/>
              <a:t>, and check the "Median" option.</a:t>
            </a:r>
          </a:p>
          <a:p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5035620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2B0CB-B057-DC36-F3C4-B71FCC34F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/>
              <a:t>Mode (Most Frequent Value)</a:t>
            </a:r>
            <a:endParaRPr lang="en-US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CA190-D099-1C1D-8B7B-2812EB4EDA3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Definition</a:t>
            </a:r>
            <a:r>
              <a:rPr lang="en-US" sz="2400" dirty="0"/>
              <a:t>: The value that appears most often.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Use Case</a:t>
            </a:r>
            <a:r>
              <a:rPr lang="en-US" sz="2400" dirty="0"/>
              <a:t>: Suitable for nominal data.</a:t>
            </a:r>
          </a:p>
        </p:txBody>
      </p:sp>
    </p:spTree>
    <p:extLst>
      <p:ext uri="{BB962C8B-B14F-4D97-AF65-F5344CB8AC3E}">
        <p14:creationId xmlns:p14="http://schemas.microsoft.com/office/powerpoint/2010/main" val="34314055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D83C71-A9D2-D16B-28CC-5F4A21F1E4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842" y="761392"/>
            <a:ext cx="10162315" cy="5335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4413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9ECD4-CDB8-EFAD-71C4-5739F604E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2857220"/>
            <a:ext cx="10364451" cy="1596177"/>
          </a:xfrm>
        </p:spPr>
        <p:txBody>
          <a:bodyPr>
            <a:normAutofit/>
          </a:bodyPr>
          <a:lstStyle/>
          <a:p>
            <a:r>
              <a:rPr lang="en-US" sz="5400" b="1" dirty="0"/>
              <a:t>Measures of Dispersion</a:t>
            </a:r>
          </a:p>
        </p:txBody>
      </p:sp>
    </p:spTree>
    <p:extLst>
      <p:ext uri="{BB962C8B-B14F-4D97-AF65-F5344CB8AC3E}">
        <p14:creationId xmlns:p14="http://schemas.microsoft.com/office/powerpoint/2010/main" val="12120593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5B07F-E246-EFF9-451B-00DF20C4E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Range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6295B9-D28D-3D04-4834-2CE6F541E6D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Definition</a:t>
            </a:r>
            <a:r>
              <a:rPr lang="en-US" sz="2400" dirty="0"/>
              <a:t>: Difference between the maximum and minimum values.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Formula</a:t>
            </a:r>
            <a:r>
              <a:rPr lang="en-US" sz="2400" dirty="0"/>
              <a:t>: Range= Max − Min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Use Case</a:t>
            </a:r>
            <a:r>
              <a:rPr lang="en-US" sz="2400" dirty="0"/>
              <a:t>: Provides a quick measure of data spread.</a:t>
            </a:r>
          </a:p>
        </p:txBody>
      </p:sp>
    </p:spTree>
    <p:extLst>
      <p:ext uri="{BB962C8B-B14F-4D97-AF65-F5344CB8AC3E}">
        <p14:creationId xmlns:p14="http://schemas.microsoft.com/office/powerpoint/2010/main" val="19559574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3E691-FF4F-9599-5726-5F58DCA22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/>
              <a:t>Variance</a:t>
            </a:r>
            <a:endParaRPr lang="en-US" sz="5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0D5053-0669-A0D1-EB62-18DC5EF316D3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/>
            <p:txBody>
              <a:bodyPr>
                <a:normAutofit/>
              </a:bodyPr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400" b="1" dirty="0"/>
                  <a:t>Definition</a:t>
                </a:r>
                <a:r>
                  <a:rPr lang="en-US" sz="2400" dirty="0"/>
                  <a:t>: Average of squared differences from the mean.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400" b="1" dirty="0"/>
                  <a:t>Formula</a:t>
                </a:r>
                <a:r>
                  <a:rPr lang="en-US" sz="2400" dirty="0"/>
                  <a:t>: Variance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 </m:t>
                        </m:r>
                        <m:acc>
                          <m:accPr>
                            <m:chr m:val="̅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</m:nary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400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400" b="1" dirty="0"/>
                  <a:t>Use Case</a:t>
                </a:r>
                <a:r>
                  <a:rPr lang="en-US" sz="2400" dirty="0"/>
                  <a:t>: Helps in understanding data variability.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0D5053-0669-A0D1-EB62-18DC5EF316D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2"/>
                <a:stretch>
                  <a:fillRect l="-1000" t="-7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90717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D3018-292F-4FF5-E6E0-EFE921566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/>
              <a:t>Standard Deviation</a:t>
            </a:r>
            <a:endParaRPr lang="en-US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B221A9-AD85-AAD6-BA49-7DA26400ADC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Definition</a:t>
            </a:r>
            <a:r>
              <a:rPr lang="en-US" sz="2400" dirty="0"/>
              <a:t>: Square root of variance, indicating average deviation from the mean.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Use Case</a:t>
            </a:r>
            <a:r>
              <a:rPr lang="en-US" sz="2400" dirty="0"/>
              <a:t>: Best for interval/ratio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SPSS Steps</a:t>
            </a:r>
            <a:r>
              <a:rPr lang="en-US" sz="2400" dirty="0"/>
              <a:t>: Use </a:t>
            </a:r>
            <a:r>
              <a:rPr lang="en-US" sz="2400" b="1" dirty="0"/>
              <a:t>Analyze &gt; Descriptive Statistics &gt; Descriptives</a:t>
            </a:r>
            <a:r>
              <a:rPr lang="en-US" sz="2400" dirty="0"/>
              <a:t> and select "Std. Deviation."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638912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05565-3BCB-26FA-1793-334A643B2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6922" y="2277437"/>
            <a:ext cx="10364451" cy="1596177"/>
          </a:xfrm>
        </p:spPr>
        <p:txBody>
          <a:bodyPr>
            <a:normAutofit/>
          </a:bodyPr>
          <a:lstStyle/>
          <a:p>
            <a:r>
              <a:rPr lang="en-US" sz="4800" b="1" dirty="0"/>
              <a:t>Skewness and Kurtosis</a:t>
            </a:r>
          </a:p>
        </p:txBody>
      </p:sp>
    </p:spTree>
    <p:extLst>
      <p:ext uri="{BB962C8B-B14F-4D97-AF65-F5344CB8AC3E}">
        <p14:creationId xmlns:p14="http://schemas.microsoft.com/office/powerpoint/2010/main" val="40038518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77367-BC21-9703-9676-B585C0E71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/>
              <a:t>Understanding Skewness</a:t>
            </a:r>
            <a:endParaRPr lang="en-US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B711D-0697-585E-ACDB-DF83281D228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Definition</a:t>
            </a:r>
            <a:r>
              <a:rPr lang="en-US" sz="2400" dirty="0"/>
              <a:t>: Measure of asymmetry in data distribution.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Positive Skew: Tail on the right.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Negative Skew: Tail on the left.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SPSS Steps</a:t>
            </a:r>
            <a:r>
              <a:rPr lang="en-US" sz="2400" dirty="0"/>
              <a:t>: Use </a:t>
            </a:r>
            <a:r>
              <a:rPr lang="en-US" sz="2400" b="1" dirty="0"/>
              <a:t>Analyze &gt; Descriptive Statistics &gt; Frequencies</a:t>
            </a:r>
            <a:r>
              <a:rPr lang="en-US" sz="2400" dirty="0"/>
              <a:t> and select "Skewness."</a:t>
            </a:r>
          </a:p>
        </p:txBody>
      </p:sp>
    </p:spTree>
    <p:extLst>
      <p:ext uri="{BB962C8B-B14F-4D97-AF65-F5344CB8AC3E}">
        <p14:creationId xmlns:p14="http://schemas.microsoft.com/office/powerpoint/2010/main" val="29545455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EA5BD-E6CF-AE49-21A7-130CCE9A7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/>
              <a:t>Interpreting Skewness Values</a:t>
            </a:r>
            <a:endParaRPr lang="en-US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0C3632-A593-5266-1E5B-75CDB0E9D3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1876917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Skewness = 0 denotes Symmetrical distribution.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Skewness &gt; 0 denotes Positively skewed.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Skewness &lt; 0 denotes Negatively skewed.</a:t>
            </a:r>
          </a:p>
        </p:txBody>
      </p:sp>
    </p:spTree>
    <p:extLst>
      <p:ext uri="{BB962C8B-B14F-4D97-AF65-F5344CB8AC3E}">
        <p14:creationId xmlns:p14="http://schemas.microsoft.com/office/powerpoint/2010/main" val="29064158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EA5BD-E6CF-AE49-21A7-130CCE9A7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/>
              <a:t>Interpreting Skewness Values</a:t>
            </a:r>
            <a:endParaRPr lang="en-US" sz="5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6A9B26A-5602-B221-763E-A054D620288A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8087" y="2078728"/>
            <a:ext cx="8655796" cy="3705846"/>
          </a:xfrm>
        </p:spPr>
      </p:pic>
    </p:spTree>
    <p:extLst>
      <p:ext uri="{BB962C8B-B14F-4D97-AF65-F5344CB8AC3E}">
        <p14:creationId xmlns:p14="http://schemas.microsoft.com/office/powerpoint/2010/main" val="10569459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16429-33EE-41DA-E3B5-3332E0EEE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/>
              <a:t>Understanding Kurtosis</a:t>
            </a:r>
            <a:endParaRPr lang="en-US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D328FE-1A5C-A2EF-63F8-4677D55BB0D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Definition</a:t>
            </a:r>
            <a:r>
              <a:rPr lang="en-US" sz="2400" dirty="0"/>
              <a:t>: Measure of data </a:t>
            </a:r>
            <a:r>
              <a:rPr lang="en-US" sz="2400" dirty="0" err="1"/>
              <a:t>peakiness</a:t>
            </a:r>
            <a:r>
              <a:rPr lang="en-US" sz="2400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High Kurtosis: Sharp peak (leptokurtic).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Low Kurtosis: Flat peak (platykurtic).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SPSS Steps</a:t>
            </a:r>
            <a:r>
              <a:rPr lang="en-US" sz="2400" dirty="0"/>
              <a:t>: Use </a:t>
            </a:r>
            <a:r>
              <a:rPr lang="en-US" sz="2400" b="1" dirty="0"/>
              <a:t>Analyze &gt; Descriptive Statistics &gt; Frequencies</a:t>
            </a:r>
            <a:r>
              <a:rPr lang="en-US" sz="2400" dirty="0"/>
              <a:t> and select "Kurtosis."</a:t>
            </a:r>
          </a:p>
        </p:txBody>
      </p:sp>
    </p:spTree>
    <p:extLst>
      <p:ext uri="{BB962C8B-B14F-4D97-AF65-F5344CB8AC3E}">
        <p14:creationId xmlns:p14="http://schemas.microsoft.com/office/powerpoint/2010/main" val="35423697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D0957-4003-DA8B-E82F-E2680298A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/>
              <a:t>Interpreting Kurtosis Values</a:t>
            </a:r>
            <a:endParaRPr lang="en-US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41FC8D-3B35-5847-1958-59A9378897B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Kurtosis = 0 denotes Normal peak.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Kurtosis &gt; 0 denotes High peak.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Kurtosis &lt; 0 denotes Low peak.</a:t>
            </a:r>
          </a:p>
        </p:txBody>
      </p:sp>
    </p:spTree>
    <p:extLst>
      <p:ext uri="{BB962C8B-B14F-4D97-AF65-F5344CB8AC3E}">
        <p14:creationId xmlns:p14="http://schemas.microsoft.com/office/powerpoint/2010/main" val="22188834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D0957-4003-DA8B-E82F-E2680298A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/>
              <a:t>Interpreting Kurtosis Values</a:t>
            </a:r>
            <a:endParaRPr lang="en-US" sz="48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360CDA4-749F-2A22-56AE-4F474351624D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7660" y="1799848"/>
            <a:ext cx="6623940" cy="4439635"/>
          </a:xfrm>
        </p:spPr>
      </p:pic>
    </p:spTree>
    <p:extLst>
      <p:ext uri="{BB962C8B-B14F-4D97-AF65-F5344CB8AC3E}">
        <p14:creationId xmlns:p14="http://schemas.microsoft.com/office/powerpoint/2010/main" val="32055164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310B0-2145-314E-A030-4E312B861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Skewness and Kurtosis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641511D-5CCD-2FAF-0B22-5BDAA53E0A6E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551" y="1883666"/>
            <a:ext cx="11004897" cy="3831334"/>
          </a:xfrm>
        </p:spPr>
      </p:pic>
    </p:spTree>
    <p:extLst>
      <p:ext uri="{BB962C8B-B14F-4D97-AF65-F5344CB8AC3E}">
        <p14:creationId xmlns:p14="http://schemas.microsoft.com/office/powerpoint/2010/main" val="38214788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B4D8E-8117-2917-E73C-07F37DE58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2630911"/>
            <a:ext cx="10364451" cy="1596177"/>
          </a:xfrm>
        </p:spPr>
        <p:txBody>
          <a:bodyPr>
            <a:normAutofit/>
          </a:bodyPr>
          <a:lstStyle/>
          <a:p>
            <a:r>
              <a:rPr lang="en-US" sz="5400" b="1" dirty="0"/>
              <a:t>Combining Measures for Analysis</a:t>
            </a:r>
          </a:p>
        </p:txBody>
      </p:sp>
    </p:spTree>
    <p:extLst>
      <p:ext uri="{BB962C8B-B14F-4D97-AF65-F5344CB8AC3E}">
        <p14:creationId xmlns:p14="http://schemas.microsoft.com/office/powerpoint/2010/main" val="22764420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66B2E-88BE-8F48-FCB3-DE47FB85B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/>
              <a:t>Comprehensive Descriptive Statistics</a:t>
            </a:r>
            <a:endParaRPr lang="en-US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B9C836-F5C1-7509-21FB-F0E31082620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SPSS Steps</a:t>
            </a:r>
            <a:r>
              <a:rPr lang="en-US" sz="24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Use </a:t>
            </a:r>
            <a:r>
              <a:rPr lang="en-US" sz="2400" b="1" dirty="0"/>
              <a:t>Analyze &gt; Descriptive Statistics &gt; Descriptives</a:t>
            </a:r>
            <a:r>
              <a:rPr lang="en-US" sz="2400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Select all statistics (Mean, Std. Dev, Skewness, etc.).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Output</a:t>
            </a:r>
            <a:r>
              <a:rPr lang="en-US" sz="2400" dirty="0"/>
              <a:t>: Single table summarizing key metrics.</a:t>
            </a:r>
          </a:p>
        </p:txBody>
      </p:sp>
    </p:spTree>
    <p:extLst>
      <p:ext uri="{BB962C8B-B14F-4D97-AF65-F5344CB8AC3E}">
        <p14:creationId xmlns:p14="http://schemas.microsoft.com/office/powerpoint/2010/main" val="40496519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74F66-A82B-5062-C777-D47FA4F84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7858" y="2630911"/>
            <a:ext cx="10364451" cy="1596177"/>
          </a:xfrm>
        </p:spPr>
        <p:txBody>
          <a:bodyPr>
            <a:normAutofit/>
          </a:bodyPr>
          <a:lstStyle/>
          <a:p>
            <a:r>
              <a:rPr lang="en-US" sz="5400" b="1" dirty="0"/>
              <a:t>Challenges and Solutions</a:t>
            </a:r>
          </a:p>
        </p:txBody>
      </p:sp>
    </p:spTree>
    <p:extLst>
      <p:ext uri="{BB962C8B-B14F-4D97-AF65-F5344CB8AC3E}">
        <p14:creationId xmlns:p14="http://schemas.microsoft.com/office/powerpoint/2010/main" val="13913658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77B1A-ADE4-F3CE-B8A4-9FEAEA082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/>
              <a:t>Challenges in Descriptive Statistics</a:t>
            </a:r>
            <a:endParaRPr lang="en-US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56E87-FF4B-E1F7-EA27-E2B1F4B8F68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Outliers affecting mean and variance.</a:t>
            </a:r>
          </a:p>
        </p:txBody>
      </p:sp>
    </p:spTree>
    <p:extLst>
      <p:ext uri="{BB962C8B-B14F-4D97-AF65-F5344CB8AC3E}">
        <p14:creationId xmlns:p14="http://schemas.microsoft.com/office/powerpoint/2010/main" val="27663440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10910-A394-EBDE-2946-FE0BC05C0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/>
              <a:t>Solutions</a:t>
            </a:r>
            <a:endParaRPr lang="en-US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2E41F1-3302-1DBE-C78D-7E8A1159ABF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Use median and mode for skewed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Visualize data (histograms, boxplots) for clarity.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Report both skewness and kurtosis values.</a:t>
            </a:r>
          </a:p>
        </p:txBody>
      </p:sp>
    </p:spTree>
    <p:extLst>
      <p:ext uri="{BB962C8B-B14F-4D97-AF65-F5344CB8AC3E}">
        <p14:creationId xmlns:p14="http://schemas.microsoft.com/office/powerpoint/2010/main" val="18278203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68CE6-C1E7-5938-F919-1C28E82F5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/>
              <a:t>Summary</a:t>
            </a:r>
            <a:endParaRPr lang="en-US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64A6EC-F012-C9D9-71AC-6D1FD9827DB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sz="2400" dirty="0"/>
              <a:t> Descriptive statistics summarize and describe key data features.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/>
              <a:t> Measures: Central Tendency, Dispersion, Skewness, and Kurtosis.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/>
              <a:t> Use SPSS to calculate and interpret these metrics efficiently.</a:t>
            </a:r>
          </a:p>
        </p:txBody>
      </p:sp>
    </p:spTree>
    <p:extLst>
      <p:ext uri="{BB962C8B-B14F-4D97-AF65-F5344CB8AC3E}">
        <p14:creationId xmlns:p14="http://schemas.microsoft.com/office/powerpoint/2010/main" val="10492741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1F2E4-BC01-A648-76EE-6CB06CC67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2268413"/>
            <a:ext cx="10364451" cy="1596177"/>
          </a:xfrm>
        </p:spPr>
        <p:txBody>
          <a:bodyPr>
            <a:normAutofit/>
          </a:bodyPr>
          <a:lstStyle/>
          <a:p>
            <a:r>
              <a:rPr lang="en-US" sz="5400" b="1" dirty="0"/>
              <a:t>Q&amp;A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5247362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A832C-BCCA-D6E5-C81A-447706D61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106" y="2238595"/>
            <a:ext cx="10364451" cy="1596177"/>
          </a:xfrm>
        </p:spPr>
        <p:txBody>
          <a:bodyPr>
            <a:normAutofit/>
          </a:bodyPr>
          <a:lstStyle/>
          <a:p>
            <a:r>
              <a:rPr lang="en-US" sz="72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731316529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27537E"/>
      </a:dk2>
      <a:lt2>
        <a:srgbClr val="AABED7"/>
      </a:lt2>
      <a:accent1>
        <a:srgbClr val="E34B7A"/>
      </a:accent1>
      <a:accent2>
        <a:srgbClr val="AC339A"/>
      </a:accent2>
      <a:accent3>
        <a:srgbClr val="6953B7"/>
      </a:accent3>
      <a:accent4>
        <a:srgbClr val="1D7EAB"/>
      </a:accent4>
      <a:accent5>
        <a:srgbClr val="43AFD6"/>
      </a:accent5>
      <a:accent6>
        <a:srgbClr val="DE85E1"/>
      </a:accent6>
      <a:hlink>
        <a:srgbClr val="ED87A6"/>
      </a:hlink>
      <a:folHlink>
        <a:srgbClr val="C99EAC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8000"/>
                <a:shade val="100000"/>
                <a:hueMod val="136000"/>
                <a:satMod val="160000"/>
                <a:lumMod val="105000"/>
              </a:schemeClr>
            </a:gs>
            <a:gs pos="100000">
              <a:schemeClr val="phClr">
                <a:shade val="92000"/>
                <a:satMod val="170000"/>
                <a:lumMod val="96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C71B277C-C29A-4BA0-A7BA-43502DF21AB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Droplet</Template>
  <TotalTime>884</TotalTime>
  <Words>594</Words>
  <Application>Microsoft Office PowerPoint</Application>
  <PresentationFormat>Widescreen</PresentationFormat>
  <Paragraphs>90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Arial</vt:lpstr>
      <vt:lpstr>Cambria Math</vt:lpstr>
      <vt:lpstr>Tw Cen MT</vt:lpstr>
      <vt:lpstr>Wingdings</vt:lpstr>
      <vt:lpstr>Droplet</vt:lpstr>
      <vt:lpstr>Descriptive Statistics in SPSS</vt:lpstr>
      <vt:lpstr>Agenda</vt:lpstr>
      <vt:lpstr>Frequency Distributions and Descriptive Tables</vt:lpstr>
      <vt:lpstr>Understanding Frequency Distributions</vt:lpstr>
      <vt:lpstr>Creating Frequency Tables in SPSS</vt:lpstr>
      <vt:lpstr>Benefits of Frequency Tables</vt:lpstr>
      <vt:lpstr>Measures of Central Tendency</vt:lpstr>
      <vt:lpstr>Mean (Arithmetic Average)</vt:lpstr>
      <vt:lpstr>Median (Middle Value)</vt:lpstr>
      <vt:lpstr>Mode (Most Frequent Value)</vt:lpstr>
      <vt:lpstr>PowerPoint Presentation</vt:lpstr>
      <vt:lpstr>Measures of Dispersion</vt:lpstr>
      <vt:lpstr>Range</vt:lpstr>
      <vt:lpstr>Variance</vt:lpstr>
      <vt:lpstr>Standard Deviation</vt:lpstr>
      <vt:lpstr>Skewness and Kurtosis</vt:lpstr>
      <vt:lpstr>Understanding Skewness</vt:lpstr>
      <vt:lpstr>Interpreting Skewness Values</vt:lpstr>
      <vt:lpstr>Interpreting Skewness Values</vt:lpstr>
      <vt:lpstr>Understanding Kurtosis</vt:lpstr>
      <vt:lpstr>Interpreting Kurtosis Values</vt:lpstr>
      <vt:lpstr>Interpreting Kurtosis Values</vt:lpstr>
      <vt:lpstr>Skewness and Kurtosis</vt:lpstr>
      <vt:lpstr>Combining Measures for Analysis</vt:lpstr>
      <vt:lpstr>Comprehensive Descriptive Statistics</vt:lpstr>
      <vt:lpstr>Challenges and Solutions</vt:lpstr>
      <vt:lpstr>Challenges in Descriptive Statistics</vt:lpstr>
      <vt:lpstr>Solutions</vt:lpstr>
      <vt:lpstr>Summary</vt:lpstr>
      <vt:lpstr>Q&amp;A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Descriptive Statistics in SPSS</dc:title>
  <dc:creator>Md. Nayeem Chowdhury</dc:creator>
  <cp:lastModifiedBy>Monowar Hossain</cp:lastModifiedBy>
  <cp:revision>21</cp:revision>
  <dcterms:created xsi:type="dcterms:W3CDTF">2025-01-04T06:36:48Z</dcterms:created>
  <dcterms:modified xsi:type="dcterms:W3CDTF">2025-03-21T17:26:50Z</dcterms:modified>
</cp:coreProperties>
</file>