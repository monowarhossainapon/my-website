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76" r:id="rId2"/>
    <p:sldId id="279" r:id="rId3"/>
    <p:sldId id="280" r:id="rId4"/>
    <p:sldId id="281" r:id="rId5"/>
    <p:sldId id="297" r:id="rId6"/>
    <p:sldId id="282" r:id="rId7"/>
    <p:sldId id="298" r:id="rId8"/>
    <p:sldId id="283" r:id="rId9"/>
    <p:sldId id="299" r:id="rId10"/>
    <p:sldId id="284" r:id="rId11"/>
    <p:sldId id="285" r:id="rId12"/>
    <p:sldId id="300" r:id="rId13"/>
    <p:sldId id="286" r:id="rId14"/>
    <p:sldId id="301" r:id="rId15"/>
    <p:sldId id="287" r:id="rId16"/>
    <p:sldId id="302" r:id="rId17"/>
    <p:sldId id="288" r:id="rId18"/>
    <p:sldId id="289" r:id="rId19"/>
    <p:sldId id="290" r:id="rId20"/>
    <p:sldId id="291" r:id="rId21"/>
    <p:sldId id="294" r:id="rId22"/>
    <p:sldId id="295" r:id="rId23"/>
    <p:sldId id="296" r:id="rId24"/>
    <p:sldId id="277" r:id="rId25"/>
    <p:sldId id="278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0" d="100"/>
          <a:sy n="50" d="100"/>
        </p:scale>
        <p:origin x="1284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82B76-8DDD-41A8-9DDC-B9719A2D4729}" type="datetimeFigureOut">
              <a:rPr lang="en-US" smtClean="0"/>
              <a:t>3/22/2025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D170F-E264-4D06-BDFB-3EF262FD07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1641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82B76-8DDD-41A8-9DDC-B9719A2D4729}" type="datetimeFigureOut">
              <a:rPr lang="en-US" smtClean="0"/>
              <a:t>3/22/2025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D170F-E264-4D06-BDFB-3EF262FD07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463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82B76-8DDD-41A8-9DDC-B9719A2D4729}" type="datetimeFigureOut">
              <a:rPr lang="en-US" smtClean="0"/>
              <a:t>3/22/2025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D170F-E264-4D06-BDFB-3EF262FD07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76878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82B76-8DDD-41A8-9DDC-B9719A2D4729}" type="datetimeFigureOut">
              <a:rPr lang="en-US" smtClean="0"/>
              <a:t>3/22/2025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D170F-E264-4D06-BDFB-3EF262FD07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038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82B76-8DDD-41A8-9DDC-B9719A2D4729}" type="datetimeFigureOut">
              <a:rPr lang="en-US" smtClean="0"/>
              <a:t>3/22/2025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D170F-E264-4D06-BDFB-3EF262FD07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72788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82B76-8DDD-41A8-9DDC-B9719A2D4729}" type="datetimeFigureOut">
              <a:rPr lang="en-US" smtClean="0"/>
              <a:t>3/22/2025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D170F-E264-4D06-BDFB-3EF262FD07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602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82B76-8DDD-41A8-9DDC-B9719A2D4729}" type="datetimeFigureOut">
              <a:rPr lang="en-US" smtClean="0"/>
              <a:t>3/22/2025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D170F-E264-4D06-BDFB-3EF262FD07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7633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82B76-8DDD-41A8-9DDC-B9719A2D4729}" type="datetimeFigureOut">
              <a:rPr lang="en-US" smtClean="0"/>
              <a:t>3/22/2025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D170F-E264-4D06-BDFB-3EF262FD07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4716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82B76-8DDD-41A8-9DDC-B9719A2D4729}" type="datetimeFigureOut">
              <a:rPr lang="en-US" smtClean="0"/>
              <a:t>3/22/2025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D170F-E264-4D06-BDFB-3EF262FD07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7750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82B76-8DDD-41A8-9DDC-B9719A2D4729}" type="datetimeFigureOut">
              <a:rPr lang="en-US" smtClean="0"/>
              <a:t>3/22/2025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D170F-E264-4D06-BDFB-3EF262FD07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7366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82B76-8DDD-41A8-9DDC-B9719A2D4729}" type="datetimeFigureOut">
              <a:rPr lang="en-US" smtClean="0"/>
              <a:t>3/22/2025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D170F-E264-4D06-BDFB-3EF262FD07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1304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82B76-8DDD-41A8-9DDC-B9719A2D4729}" type="datetimeFigureOut">
              <a:rPr lang="en-US" smtClean="0"/>
              <a:t>3/22/2025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D170F-E264-4D06-BDFB-3EF262FD0707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715585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82B76-8DDD-41A8-9DDC-B9719A2D4729}" type="datetimeFigureOut">
              <a:rPr lang="en-US" smtClean="0"/>
              <a:t>3/22/2025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D170F-E264-4D06-BDFB-3EF262FD07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0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82B76-8DDD-41A8-9DDC-B9719A2D4729}" type="datetimeFigureOut">
              <a:rPr lang="en-US" smtClean="0"/>
              <a:t>3/22/2025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D170F-E264-4D06-BDFB-3EF262FD07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6062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82B76-8DDD-41A8-9DDC-B9719A2D4729}" type="datetimeFigureOut">
              <a:rPr lang="en-US" smtClean="0"/>
              <a:t>3/22/2025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D170F-E264-4D06-BDFB-3EF262FD07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67334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82B76-8DDD-41A8-9DDC-B9719A2D4729}" type="datetimeFigureOut">
              <a:rPr lang="en-US" smtClean="0"/>
              <a:t>3/22/2025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D170F-E264-4D06-BDFB-3EF262FD07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82789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82B76-8DDD-41A8-9DDC-B9719A2D4729}" type="datetimeFigureOut">
              <a:rPr lang="en-US" smtClean="0"/>
              <a:t>3/22/2025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D170F-E264-4D06-BDFB-3EF262FD07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1538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8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19882B76-8DDD-41A8-9DDC-B9719A2D4729}" type="datetimeFigureOut">
              <a:rPr lang="en-US" smtClean="0"/>
              <a:t>3/22/2025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C8CD170F-E264-4D06-BDFB-3EF262FD07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358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E8B62-90A7-89B8-7554-3936E5C9EE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1371599"/>
          </a:xfrm>
        </p:spPr>
        <p:txBody>
          <a:bodyPr>
            <a:noAutofit/>
          </a:bodyPr>
          <a:lstStyle/>
          <a:p>
            <a:r>
              <a:rPr lang="en-US" b="1" dirty="0"/>
              <a:t>Graphical Presentation of Data in SPSS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946D7F-AC16-B7A9-DE7C-3DAE70F9B39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 err="1">
                <a:solidFill>
                  <a:schemeClr val="tx1"/>
                </a:solidFill>
              </a:rPr>
              <a:t>md.</a:t>
            </a:r>
            <a:r>
              <a:rPr lang="en-US" b="1" dirty="0">
                <a:solidFill>
                  <a:schemeClr val="tx1"/>
                </a:solidFill>
              </a:rPr>
              <a:t> Monowar Hossain</a:t>
            </a:r>
          </a:p>
          <a:p>
            <a:r>
              <a:rPr lang="en-US" dirty="0">
                <a:solidFill>
                  <a:schemeClr val="tx1"/>
                </a:solidFill>
              </a:rPr>
              <a:t>ISRT, DU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C67266-64AE-ED9C-3EE8-513661C227EA}"/>
              </a:ext>
            </a:extLst>
          </p:cNvPr>
          <p:cNvSpPr txBox="1"/>
          <p:nvPr/>
        </p:nvSpPr>
        <p:spPr>
          <a:xfrm>
            <a:off x="5202621" y="2712156"/>
            <a:ext cx="192572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Lecture 05</a:t>
            </a:r>
          </a:p>
        </p:txBody>
      </p:sp>
    </p:spTree>
    <p:extLst>
      <p:ext uri="{BB962C8B-B14F-4D97-AF65-F5344CB8AC3E}">
        <p14:creationId xmlns:p14="http://schemas.microsoft.com/office/powerpoint/2010/main" val="3366625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173AEF-D0AC-8260-C325-D3B399B11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/>
              <a:t>Agenda</a:t>
            </a:r>
            <a:endParaRPr lang="en-US" sz="4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55E896-9A2E-8699-C6B6-B1931B5C395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626960" y="2535257"/>
            <a:ext cx="7137150" cy="3424107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 Visualizing Categorical and Numerical Data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 Customizing Graphs in SPSS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7512144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225DBE-41A2-356A-A193-FBB3D8317C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9899" y="2630911"/>
            <a:ext cx="10364451" cy="1596177"/>
          </a:xfrm>
        </p:spPr>
        <p:txBody>
          <a:bodyPr>
            <a:normAutofit/>
          </a:bodyPr>
          <a:lstStyle/>
          <a:p>
            <a:r>
              <a:rPr lang="en-US" sz="5400" b="1" dirty="0"/>
              <a:t>Visualizing Categorical Data</a:t>
            </a:r>
          </a:p>
        </p:txBody>
      </p:sp>
    </p:spTree>
    <p:extLst>
      <p:ext uri="{BB962C8B-B14F-4D97-AF65-F5344CB8AC3E}">
        <p14:creationId xmlns:p14="http://schemas.microsoft.com/office/powerpoint/2010/main" val="17216675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698FC-D7DE-C77B-0B6B-0BB29FD2E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/>
              <a:t>Bar Charts</a:t>
            </a:r>
            <a:endParaRPr lang="en-US" sz="4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B9E666-4594-E867-2C47-B97297AC0665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Definition</a:t>
            </a:r>
            <a:r>
              <a:rPr lang="en-US" dirty="0"/>
              <a:t>: A graphical display of data using bars to show frequencies or percentages for categories.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Use Case</a:t>
            </a:r>
            <a:r>
              <a:rPr lang="en-US" dirty="0"/>
              <a:t>: Compare categories of a variable (e.g., survey responses).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SPSS Steps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Go to </a:t>
            </a:r>
            <a:r>
              <a:rPr lang="en-US" b="1" dirty="0"/>
              <a:t>Graphs &gt; Legacy Dialogs &gt; BAR</a:t>
            </a:r>
            <a:r>
              <a:rPr lang="en-US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Drag a bar chart template.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Assign the variable to the category axis.</a:t>
            </a:r>
          </a:p>
        </p:txBody>
      </p:sp>
    </p:spTree>
    <p:extLst>
      <p:ext uri="{BB962C8B-B14F-4D97-AF65-F5344CB8AC3E}">
        <p14:creationId xmlns:p14="http://schemas.microsoft.com/office/powerpoint/2010/main" val="13777469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E2757-8C5D-F797-AB0E-E004BE8FB3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BC5AC1F-C29D-1D44-C5E8-6CC17001C544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75" y="618517"/>
            <a:ext cx="10446651" cy="5172683"/>
          </a:xfrm>
        </p:spPr>
      </p:pic>
    </p:spTree>
    <p:extLst>
      <p:ext uri="{BB962C8B-B14F-4D97-AF65-F5344CB8AC3E}">
        <p14:creationId xmlns:p14="http://schemas.microsoft.com/office/powerpoint/2010/main" val="5902908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05BAC-D923-73C5-00A6-DD5E6D71B8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/>
              <a:t>Pie Charts</a:t>
            </a:r>
            <a:endParaRPr lang="en-US" sz="4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53A061-EDC8-1BE9-A819-AD42F4538613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Definition</a:t>
            </a:r>
            <a:r>
              <a:rPr lang="en-US" dirty="0"/>
              <a:t>: A circular chart divided into slices to illustrate proportions.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Use Case</a:t>
            </a:r>
            <a:r>
              <a:rPr lang="en-US" dirty="0"/>
              <a:t>: Display percentage contributions of categories.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SPSS Steps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Navigate to </a:t>
            </a:r>
            <a:r>
              <a:rPr lang="en-US" b="1" dirty="0"/>
              <a:t>Graphs &gt; Legacy Dialogs &gt; Pie</a:t>
            </a:r>
            <a:r>
              <a:rPr lang="en-US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Select a pie chart template.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Assign a variable to the category axis.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Customization</a:t>
            </a:r>
            <a:r>
              <a:rPr lang="en-US" dirty="0"/>
              <a:t>: Add labels, percentages, and colors.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22139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01B97-AE8E-F59A-3278-15E3CA0E8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Pie Chart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DC1AAE5-F0D6-D65E-452B-81DE37B67D46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2177" y="1910892"/>
            <a:ext cx="5867646" cy="4328591"/>
          </a:xfrm>
        </p:spPr>
      </p:pic>
    </p:spTree>
    <p:extLst>
      <p:ext uri="{BB962C8B-B14F-4D97-AF65-F5344CB8AC3E}">
        <p14:creationId xmlns:p14="http://schemas.microsoft.com/office/powerpoint/2010/main" val="4204803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67E765-489E-3EB4-AEA3-85D106C20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/>
              <a:t>Histograms</a:t>
            </a:r>
            <a:endParaRPr lang="en-US" sz="4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C60541-404A-DE46-7E3B-4E196F61E48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Definition</a:t>
            </a:r>
            <a:r>
              <a:rPr lang="en-US" dirty="0"/>
              <a:t>: A graphical representation of the distribution of a dataset.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Use Case</a:t>
            </a:r>
            <a:r>
              <a:rPr lang="en-US" dirty="0"/>
              <a:t>: Analyze frequency distribution for numerical variables.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SPSS Steps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Use </a:t>
            </a:r>
            <a:r>
              <a:rPr lang="en-US" b="1" dirty="0"/>
              <a:t>Graphs &gt; Legacy Dialogs &gt; Histogram</a:t>
            </a:r>
            <a:r>
              <a:rPr lang="en-US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Select a numerical variable.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Generate the output.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Example</a:t>
            </a:r>
            <a:r>
              <a:rPr lang="en-US" dirty="0"/>
              <a:t>: Show a histogram for exam scores.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84734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5054D7-B710-3700-870D-41FAB58EFF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Histogram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E29FFE7-507C-5B71-260C-04731ACE4355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213" r="17448" b="13255"/>
          <a:stretch/>
        </p:blipFill>
        <p:spPr>
          <a:xfrm>
            <a:off x="3239349" y="1958008"/>
            <a:ext cx="5713302" cy="4084983"/>
          </a:xfrm>
        </p:spPr>
      </p:pic>
    </p:spTree>
    <p:extLst>
      <p:ext uri="{BB962C8B-B14F-4D97-AF65-F5344CB8AC3E}">
        <p14:creationId xmlns:p14="http://schemas.microsoft.com/office/powerpoint/2010/main" val="16829390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8B5FB-2A25-6F1D-13E8-896461889F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7347" y="2825689"/>
            <a:ext cx="10364451" cy="1596177"/>
          </a:xfrm>
        </p:spPr>
        <p:txBody>
          <a:bodyPr>
            <a:normAutofit/>
          </a:bodyPr>
          <a:lstStyle/>
          <a:p>
            <a:r>
              <a:rPr lang="en-US" sz="4800" b="1" dirty="0"/>
              <a:t>Visualizing Numerical Data</a:t>
            </a:r>
          </a:p>
        </p:txBody>
      </p:sp>
    </p:spTree>
    <p:extLst>
      <p:ext uri="{BB962C8B-B14F-4D97-AF65-F5344CB8AC3E}">
        <p14:creationId xmlns:p14="http://schemas.microsoft.com/office/powerpoint/2010/main" val="4407646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93D3D-2D9B-B8DF-1992-25C8BA1C1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/>
              <a:t>Scatterplots</a:t>
            </a:r>
            <a:endParaRPr lang="en-US" sz="4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4AD024-2409-4D59-5211-5519835A994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145001" y="2214694"/>
            <a:ext cx="10363826" cy="3424107"/>
          </a:xfrm>
        </p:spPr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Definition</a:t>
            </a:r>
            <a:r>
              <a:rPr lang="en-US" dirty="0"/>
              <a:t>: Displays data points on a Cartesian plane to observe relationships between two numerical variables.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Use Case</a:t>
            </a:r>
            <a:r>
              <a:rPr lang="en-US" dirty="0"/>
              <a:t>: Identify correlations or trends.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SPSS Steps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Go to </a:t>
            </a:r>
            <a:r>
              <a:rPr lang="en-US" sz="2400" b="1" dirty="0"/>
              <a:t>Graphs &gt; Legacy Dialogs &gt; Scatterplot</a:t>
            </a:r>
            <a:r>
              <a:rPr lang="en-US" sz="2000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Drag a scatterplot template.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Assign variables to X and Y axes.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Example</a:t>
            </a:r>
            <a:r>
              <a:rPr lang="en-US" dirty="0"/>
              <a:t>: Show a scatterplot for study hours vs. exam scores.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3990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B2D916-4586-D016-4768-92489EDAB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Scatterplot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758B79C-0899-8656-F6C4-DACD4EC4B506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3881" y="2366963"/>
            <a:ext cx="3424237" cy="3424237"/>
          </a:xfrm>
        </p:spPr>
      </p:pic>
    </p:spTree>
    <p:extLst>
      <p:ext uri="{BB962C8B-B14F-4D97-AF65-F5344CB8AC3E}">
        <p14:creationId xmlns:p14="http://schemas.microsoft.com/office/powerpoint/2010/main" val="253375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AFDF6C-2AD1-893D-4246-2474BD4B1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/>
              <a:t>Line Graphs</a:t>
            </a:r>
            <a:endParaRPr lang="en-US" sz="4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681E40-431C-1940-C126-B428282E30B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Definition</a:t>
            </a:r>
            <a:r>
              <a:rPr lang="en-US" dirty="0"/>
              <a:t>: Connects data points with lines to display trends over time.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Use Case</a:t>
            </a:r>
            <a:r>
              <a:rPr lang="en-US" dirty="0"/>
              <a:t>: Visualize time-series data.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SPSS Steps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Navigate to </a:t>
            </a:r>
            <a:r>
              <a:rPr lang="en-US" sz="2400" b="1" dirty="0"/>
              <a:t>Graphs &gt; Legacy Dialogs &gt; LINE</a:t>
            </a:r>
            <a:r>
              <a:rPr lang="en-US" sz="2000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Drag a line graph template.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Assign a time variable to the X-axis and another variable to the Y-axis.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Example Output</a:t>
            </a:r>
            <a:r>
              <a:rPr lang="en-US" dirty="0"/>
              <a:t>: Include a line graph for monthly sales trends.</a:t>
            </a:r>
          </a:p>
        </p:txBody>
      </p:sp>
    </p:spTree>
    <p:extLst>
      <p:ext uri="{BB962C8B-B14F-4D97-AF65-F5344CB8AC3E}">
        <p14:creationId xmlns:p14="http://schemas.microsoft.com/office/powerpoint/2010/main" val="305232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9736E1-38F2-3775-CD92-487F7A11B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Line Graph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A926D79-5C70-6F27-CC01-24DDBC3C74A6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3880317" y="2366963"/>
            <a:ext cx="4431365" cy="3424237"/>
          </a:xfrm>
        </p:spPr>
      </p:pic>
    </p:spTree>
    <p:extLst>
      <p:ext uri="{BB962C8B-B14F-4D97-AF65-F5344CB8AC3E}">
        <p14:creationId xmlns:p14="http://schemas.microsoft.com/office/powerpoint/2010/main" val="20786668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BC7FA-AE55-C29F-7921-28E03B013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/>
              <a:t>Boxplots</a:t>
            </a:r>
            <a:endParaRPr lang="en-US" sz="4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6E710B-4116-8B91-F685-31038A99BF15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Definition</a:t>
            </a:r>
            <a:r>
              <a:rPr lang="en-US" dirty="0"/>
              <a:t>: Displays a summary of a dataset using minimum, Q1, median, Q3, and maximum values.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Use Case</a:t>
            </a:r>
            <a:r>
              <a:rPr lang="en-US" dirty="0"/>
              <a:t>: Compare distributions across groups.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SPSS Steps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Go to </a:t>
            </a:r>
            <a:r>
              <a:rPr lang="en-US" b="1" dirty="0"/>
              <a:t>Graphs &gt; Legacy Dialogs &gt; Boxplot</a:t>
            </a:r>
            <a:r>
              <a:rPr lang="en-US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Select "Simple" or "Grouped" boxplot.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Assign variables accordingly.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Example Output</a:t>
            </a:r>
            <a:r>
              <a:rPr lang="en-US" dirty="0"/>
              <a:t>: Show boxplots comparing exam scores by gender.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40427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B0098-9C79-2924-BBB6-AA00DC2BF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Box plot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4256B69-6A70-FCDF-806B-4EFF323B50C9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1763" y="2366963"/>
            <a:ext cx="6848474" cy="3424237"/>
          </a:xfrm>
        </p:spPr>
      </p:pic>
    </p:spTree>
    <p:extLst>
      <p:ext uri="{BB962C8B-B14F-4D97-AF65-F5344CB8AC3E}">
        <p14:creationId xmlns:p14="http://schemas.microsoft.com/office/powerpoint/2010/main" val="39005331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28ED6-D50F-D4B7-9106-74533F6317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4" y="2630911"/>
            <a:ext cx="10364451" cy="1596177"/>
          </a:xfrm>
        </p:spPr>
        <p:txBody>
          <a:bodyPr>
            <a:normAutofit/>
          </a:bodyPr>
          <a:lstStyle/>
          <a:p>
            <a:r>
              <a:rPr lang="en-US" sz="5400" b="1" dirty="0"/>
              <a:t>Customizing Graphs in SPSS</a:t>
            </a:r>
          </a:p>
        </p:txBody>
      </p:sp>
    </p:spTree>
    <p:extLst>
      <p:ext uri="{BB962C8B-B14F-4D97-AF65-F5344CB8AC3E}">
        <p14:creationId xmlns:p14="http://schemas.microsoft.com/office/powerpoint/2010/main" val="24570725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7996E-5421-D411-1908-30108CA77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/>
              <a:t>Basic Customization</a:t>
            </a:r>
            <a:endParaRPr lang="en-US" sz="4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61E56F-A2D7-A231-BA33-ADE76FC491D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Change colors, titles, and labels.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Steps: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Double-click on the graph in the Output Viewer.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Open the </a:t>
            </a:r>
            <a:r>
              <a:rPr lang="en-US" sz="2400" b="1" dirty="0"/>
              <a:t>Chart Editor</a:t>
            </a:r>
            <a:r>
              <a:rPr lang="en-US" sz="2400" dirty="0"/>
              <a:t> for customization.</a:t>
            </a:r>
          </a:p>
        </p:txBody>
      </p:sp>
    </p:spTree>
    <p:extLst>
      <p:ext uri="{BB962C8B-B14F-4D97-AF65-F5344CB8AC3E}">
        <p14:creationId xmlns:p14="http://schemas.microsoft.com/office/powerpoint/2010/main" val="9919515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235809-D20A-4DE3-61D3-72FB4CB522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/>
              <a:t>Advanced Editing</a:t>
            </a:r>
            <a:endParaRPr lang="en-US" sz="4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56EA48-7E20-E52B-D8DE-CBC5C0B1001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173498" y="2931253"/>
            <a:ext cx="10363826" cy="3424107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Add annotations or data labels.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Modify axes scales and tick marks.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Adjust legend placement.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6982607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C6CE9-C3D6-3C70-151C-FCF6C2EEE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/>
              <a:t>Exporting Graphs</a:t>
            </a:r>
            <a:endParaRPr lang="en-US" sz="4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6F1623-EA0C-37F7-4FA5-F166247655B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Steps</a:t>
            </a:r>
            <a:r>
              <a:rPr lang="en-US" sz="24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Right-click the graph in the Output Viewer.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Choose </a:t>
            </a:r>
            <a:r>
              <a:rPr lang="en-US" sz="2400" b="1" dirty="0"/>
              <a:t>Export</a:t>
            </a:r>
            <a:r>
              <a:rPr lang="en-US" sz="2400" dirty="0"/>
              <a:t> or </a:t>
            </a:r>
            <a:r>
              <a:rPr lang="en-US" sz="2400" b="1" dirty="0"/>
              <a:t>Copy as Image</a:t>
            </a:r>
            <a:r>
              <a:rPr lang="en-US" sz="2400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Save as PNG, JPG, or other formats.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Use Case</a:t>
            </a:r>
            <a:r>
              <a:rPr lang="en-US" sz="2400" dirty="0"/>
              <a:t>: Incorporate graphs into reports or presentations.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6502790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F139E-71AF-E024-17D3-23A50EB215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/>
              <a:t>Practical Example</a:t>
            </a:r>
            <a:endParaRPr lang="en-US" sz="4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FEA8E7-49FD-460F-9EA8-D4776DAEC3F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Dataset: Student attendance and grades.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Visualize using a combination of bar charts, histograms, and scatterplots.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Interpretation of the results.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2159917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93D83-CEBD-0257-F0C3-CAB2FD0FF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/>
              <a:t>Challenges and Solutions</a:t>
            </a:r>
            <a:endParaRPr lang="en-US" sz="4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1734A0-4F64-D4E4-FBA7-638EEC6FF78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Challenges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Choosing the right chart type.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Interpreting graphs effectively.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Solutions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Match the chart to the data type (categorical or numerical).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Use SPSS customization tools to enhance clarity.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69174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68634-146E-9A13-3E07-4B8F823F9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b="1" dirty="0"/>
              <a:t>Summary</a:t>
            </a:r>
            <a:endParaRPr lang="en-US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4CD25D-B5A9-2275-4078-86ECCAE28A8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sz="2400" dirty="0"/>
              <a:t>Categorical Data: Bar charts, pie charts, histograms.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400" dirty="0"/>
              <a:t>Numerical Data: Scatterplots, line graphs, boxplots.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400" dirty="0"/>
              <a:t>Customization enhances clarity and communicative power.</a:t>
            </a:r>
          </a:p>
          <a:p>
            <a:pPr>
              <a:buFont typeface="Wingdings" panose="05000000000000000000" pitchFamily="2" charset="2"/>
              <a:buChar char="ü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2674064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11F2E4-BC01-A648-76EE-6CB06CC67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4" y="2268413"/>
            <a:ext cx="10364451" cy="1596177"/>
          </a:xfrm>
        </p:spPr>
        <p:txBody>
          <a:bodyPr>
            <a:normAutofit/>
          </a:bodyPr>
          <a:lstStyle/>
          <a:p>
            <a:r>
              <a:rPr lang="en-US" sz="5400" b="1" dirty="0"/>
              <a:t>Q&amp;A</a:t>
            </a:r>
            <a:endParaRPr lang="en-US" sz="5400" dirty="0"/>
          </a:p>
        </p:txBody>
      </p:sp>
    </p:spTree>
    <p:extLst>
      <p:ext uri="{BB962C8B-B14F-4D97-AF65-F5344CB8AC3E}">
        <p14:creationId xmlns:p14="http://schemas.microsoft.com/office/powerpoint/2010/main" val="52473629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A832C-BCCA-D6E5-C81A-447706D613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3106" y="2238595"/>
            <a:ext cx="10364451" cy="1596177"/>
          </a:xfrm>
        </p:spPr>
        <p:txBody>
          <a:bodyPr>
            <a:normAutofit/>
          </a:bodyPr>
          <a:lstStyle/>
          <a:p>
            <a:r>
              <a:rPr lang="en-US" sz="7200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731316529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27537E"/>
      </a:dk2>
      <a:lt2>
        <a:srgbClr val="AABED7"/>
      </a:lt2>
      <a:accent1>
        <a:srgbClr val="E34B7A"/>
      </a:accent1>
      <a:accent2>
        <a:srgbClr val="AC339A"/>
      </a:accent2>
      <a:accent3>
        <a:srgbClr val="6953B7"/>
      </a:accent3>
      <a:accent4>
        <a:srgbClr val="1D7EAB"/>
      </a:accent4>
      <a:accent5>
        <a:srgbClr val="43AFD6"/>
      </a:accent5>
      <a:accent6>
        <a:srgbClr val="DE85E1"/>
      </a:accent6>
      <a:hlink>
        <a:srgbClr val="ED87A6"/>
      </a:hlink>
      <a:folHlink>
        <a:srgbClr val="C99EAC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78000"/>
                <a:shade val="100000"/>
                <a:hueMod val="136000"/>
                <a:satMod val="160000"/>
                <a:lumMod val="105000"/>
              </a:schemeClr>
            </a:gs>
            <a:gs pos="100000">
              <a:schemeClr val="phClr">
                <a:shade val="92000"/>
                <a:satMod val="170000"/>
                <a:lumMod val="96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C71B277C-C29A-4BA0-A7BA-43502DF21AB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Droplet</Template>
  <TotalTime>404</TotalTime>
  <Words>598</Words>
  <Application>Microsoft Office PowerPoint</Application>
  <PresentationFormat>Widescreen</PresentationFormat>
  <Paragraphs>94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Tw Cen MT</vt:lpstr>
      <vt:lpstr>Wingdings</vt:lpstr>
      <vt:lpstr>Droplet</vt:lpstr>
      <vt:lpstr>Graphical Presentation of Data in SPSS</vt:lpstr>
      <vt:lpstr>Agenda</vt:lpstr>
      <vt:lpstr>Visualizing Categorical Data</vt:lpstr>
      <vt:lpstr>Bar Charts</vt:lpstr>
      <vt:lpstr>PowerPoint Presentation</vt:lpstr>
      <vt:lpstr>Pie Charts</vt:lpstr>
      <vt:lpstr>Pie Chart</vt:lpstr>
      <vt:lpstr>Histograms</vt:lpstr>
      <vt:lpstr>Histogram</vt:lpstr>
      <vt:lpstr>Visualizing Numerical Data</vt:lpstr>
      <vt:lpstr>Scatterplots</vt:lpstr>
      <vt:lpstr>Scatterplot</vt:lpstr>
      <vt:lpstr>Line Graphs</vt:lpstr>
      <vt:lpstr>Line Graph</vt:lpstr>
      <vt:lpstr>Boxplots</vt:lpstr>
      <vt:lpstr>Box plot</vt:lpstr>
      <vt:lpstr>Customizing Graphs in SPSS</vt:lpstr>
      <vt:lpstr>Basic Customization</vt:lpstr>
      <vt:lpstr>Advanced Editing</vt:lpstr>
      <vt:lpstr>Exporting Graphs</vt:lpstr>
      <vt:lpstr>Practical Example</vt:lpstr>
      <vt:lpstr>Challenges and Solutions</vt:lpstr>
      <vt:lpstr>Summary</vt:lpstr>
      <vt:lpstr>Q&amp;A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Graphical Presentation of Data in SPSS</dc:title>
  <dc:creator>Md. Nayeem Chowdhury</dc:creator>
  <cp:lastModifiedBy>Monowar Hossain</cp:lastModifiedBy>
  <cp:revision>14</cp:revision>
  <dcterms:created xsi:type="dcterms:W3CDTF">2025-01-04T06:56:21Z</dcterms:created>
  <dcterms:modified xsi:type="dcterms:W3CDTF">2025-03-22T14:30:11Z</dcterms:modified>
</cp:coreProperties>
</file>